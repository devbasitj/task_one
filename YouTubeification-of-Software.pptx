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1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94560"/>
            <a:ext cx="6217920" cy="6217920"/>
          </a:xfrm>
          <a:prstGeom prst="ellipse">
            <a:avLst/>
          </a:prstGeom>
          <a:solidFill>
            <a:srgbClr val="382652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474720" cy="3474720"/>
          </a:xfrm>
          <a:prstGeom prst="ellipse">
            <a:avLst/>
          </a:prstGeom>
          <a:solidFill>
            <a:srgbClr val="38265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914400" cy="914400"/>
          </a:xfrm>
          <a:prstGeom prst="ellipse">
            <a:avLst/>
          </a:prstGeom>
          <a:solidFill>
            <a:srgbClr val="FF6A5A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96926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783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224028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YouTubeification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of Software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22960" y="4206240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is about to do to app-building what social media did to media —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the cost, and hand the tools to everyone.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68680" y="5349240"/>
            <a:ext cx="1828800" cy="0"/>
          </a:xfrm>
          <a:prstGeom prst="line">
            <a:avLst/>
          </a:prstGeom>
          <a:noFill/>
          <a:ln w="31750">
            <a:solidFill>
              <a:srgbClr val="FF6A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532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2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a Dil Ki Baat talk  ·  and the a16z essay of the same name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618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pattern, twice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77240" y="1417320"/>
            <a:ext cx="10652760" cy="1691640"/>
          </a:xfrm>
          <a:prstGeom prst="roundRect">
            <a:avLst>
              <a:gd name="adj" fmla="val 5405"/>
            </a:avLst>
          </a:prstGeom>
          <a:solidFill>
            <a:srgbClr val="26183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143000" y="1417320"/>
            <a:ext cx="9966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When the cost of making and distributing something collapses, the industry stops rewarding skill and starts rewarding ideas — and a flood of new players takes over.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77240" y="3429000"/>
            <a:ext cx="51206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3749040"/>
            <a:ext cx="868680" cy="868680"/>
          </a:xfrm>
          <a:prstGeom prst="ellipse">
            <a:avLst/>
          </a:prstGeom>
          <a:solidFill>
            <a:srgbClr val="FF6A5A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3137" y="3974897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48840" y="379476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18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Media, 2010 →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143000" y="4754880"/>
            <a:ext cx="4434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cameras, laptop editing, and free upload turned a nobody into a creator. The gatekeepers lost control.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63640" y="3429000"/>
            <a:ext cx="51206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3749040"/>
            <a:ext cx="868680" cy="868680"/>
          </a:xfrm>
          <a:prstGeom prst="ellipse">
            <a:avLst/>
          </a:prstGeom>
          <a:solidFill>
            <a:srgbClr val="F5B544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9537" y="3974897"/>
            <a:ext cx="416966" cy="4169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35240" y="379476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18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Software, 2025 →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6629400" y="4754880"/>
            <a:ext cx="4434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tools collapse the cost of building apps. Now anyone with an idea can ship one — no degree, no VC, no team.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1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108960"/>
            <a:ext cx="5669280" cy="5669280"/>
          </a:xfrm>
          <a:prstGeom prst="ellipse">
            <a:avLst/>
          </a:prstGeom>
          <a:solidFill>
            <a:srgbClr val="38265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FF6A5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3657600" y="2377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STARTED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11880" y="2788920"/>
            <a:ext cx="7955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nobody, a camera, 2010</a:t>
            </a:r>
            <a:endParaRPr lang="en-US" sz="3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618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accidental creator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77240" y="1417320"/>
            <a:ext cx="10652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1709928"/>
            <a:ext cx="822960" cy="822960"/>
          </a:xfrm>
          <a:prstGeom prst="ellipse">
            <a:avLst/>
          </a:prstGeom>
          <a:solidFill>
            <a:srgbClr val="FF6A5A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5530" y="1923898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57400" y="160020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8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2010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931920" y="1600200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borrowed DSLR and a Facebook page. ~6–7 million Pakistanis were online. No media background, no network — just showing up daily.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77240" y="3017520"/>
            <a:ext cx="10652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51560" y="3310128"/>
            <a:ext cx="822960" cy="822960"/>
          </a:xfrm>
          <a:prstGeom prst="ellipse">
            <a:avLst/>
          </a:prstGeom>
          <a:solidFill>
            <a:srgbClr val="FF6A5A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530" y="3524098"/>
            <a:ext cx="395021" cy="3950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57400" y="320040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8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2012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3931920" y="3200400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proper video, "22 Random Acts of Kindness," went viral overnight — ~250,000 views. YouTube's 66M-follower page shared it; GMA and MSNBC came calling.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777240" y="4617720"/>
            <a:ext cx="10652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051560" y="4910328"/>
            <a:ext cx="822960" cy="822960"/>
          </a:xfrm>
          <a:prstGeom prst="ellipse">
            <a:avLst/>
          </a:prstGeom>
          <a:solidFill>
            <a:srgbClr val="726A88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530" y="5124298"/>
            <a:ext cx="395021" cy="39502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057400" y="480060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8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2012–2016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3931920" y="4800600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YouTube was banned in Pakistan. The "global superstar" career collapsed overnight — so the work moved to Facebook video instead.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61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474720"/>
            <a:ext cx="5029200" cy="5029200"/>
          </a:xfrm>
          <a:prstGeom prst="ellipse">
            <a:avLst/>
          </a:prstGeom>
          <a:solidFill>
            <a:srgbClr val="38265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7772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that proved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platform handed a real career to someone with no education, no network, and no ties to the industry. The only inputs that mattered were showing up and iterating.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77240" y="36576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382652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0" y="3977640"/>
            <a:ext cx="914400" cy="914400"/>
          </a:xfrm>
          <a:prstGeom prst="ellipse">
            <a:avLst/>
          </a:prstGeom>
          <a:solidFill>
            <a:srgbClr val="FF6A5A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9424" y="421538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4983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Didn't need it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60120" y="532180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degree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416552" y="36576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382652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50992" y="3977640"/>
            <a:ext cx="914400" cy="914400"/>
          </a:xfrm>
          <a:prstGeom prst="ellipse">
            <a:avLst/>
          </a:prstGeom>
          <a:solidFill>
            <a:srgbClr val="FF6A5A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36" y="421538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9432" y="4983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Didn't need it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99432" y="532180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network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8055864" y="36576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382652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290304" y="3977640"/>
            <a:ext cx="914400" cy="914400"/>
          </a:xfrm>
          <a:prstGeom prst="ellipse">
            <a:avLst/>
          </a:prstGeom>
          <a:solidFill>
            <a:srgbClr val="FF6A5A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48" y="4215384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38744" y="4983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Didn't need it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238744" y="532180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gatekeeper's blessing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618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Media before 2010: the gatekept model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2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anything, you ran a long, expensive gauntlet — and someone could stop you at every gate.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99032" y="2121408"/>
            <a:ext cx="768096" cy="768096"/>
          </a:xfrm>
          <a:prstGeom prst="ellipse">
            <a:avLst/>
          </a:prstGeom>
          <a:solidFill>
            <a:srgbClr val="FF6A5A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8737" y="2321113"/>
            <a:ext cx="368686" cy="368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965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26A8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86968" y="297180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an idea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2935224" y="182880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57016" y="2121408"/>
            <a:ext cx="768096" cy="768096"/>
          </a:xfrm>
          <a:prstGeom prst="ellipse">
            <a:avLst/>
          </a:prstGeom>
          <a:solidFill>
            <a:srgbClr val="382652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721" y="2321113"/>
            <a:ext cx="368686" cy="3686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72384" y="1965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26A8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044952" y="297180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money from a producer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093208" y="182880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15000" y="2121408"/>
            <a:ext cx="768096" cy="768096"/>
          </a:xfrm>
          <a:prstGeom prst="ellipse">
            <a:avLst/>
          </a:prstGeom>
          <a:solidFill>
            <a:srgbClr val="FF6A5A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705" y="2321113"/>
            <a:ext cx="368686" cy="3686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30368" y="1965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26A8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202936" y="297180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a 50–1,000 person team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7251192" y="182880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872984" y="2121408"/>
            <a:ext cx="768096" cy="768096"/>
          </a:xfrm>
          <a:prstGeom prst="ellipse">
            <a:avLst/>
          </a:prstGeom>
          <a:solidFill>
            <a:srgbClr val="382652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2689" y="2321113"/>
            <a:ext cx="368686" cy="3686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88352" y="1965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26A8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60920" y="297180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to a distributor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9409176" y="182880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030968" y="2121408"/>
            <a:ext cx="768096" cy="768096"/>
          </a:xfrm>
          <a:prstGeom prst="ellipse">
            <a:avLst/>
          </a:prstGeom>
          <a:solidFill>
            <a:srgbClr val="FF6A5A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0673" y="2321113"/>
            <a:ext cx="368686" cy="36868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46336" y="1965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26A8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9518904" y="297180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Exit, repeat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777240" y="4114800"/>
            <a:ext cx="10652760" cy="2057400"/>
          </a:xfrm>
          <a:prstGeom prst="roundRect">
            <a:avLst>
              <a:gd name="adj" fmla="val 4444"/>
            </a:avLst>
          </a:prstGeom>
          <a:solidFill>
            <a:srgbClr val="26183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1097280" y="4343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 few made it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1097280" y="48006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F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Credentials, experience, and connections were the price of entry. </a:t>
            </a:r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F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Distributors — a handful of TV channels and cinemas with limited slots — decided what the public ever got to see. </a:t>
            </a:r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F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relationship with them meant no audience, no matter how good the work.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618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Then three costs collapsed (2005–2010)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77240" y="1417320"/>
            <a:ext cx="3456432" cy="457200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048256" y="1783080"/>
            <a:ext cx="914400" cy="914400"/>
          </a:xfrm>
          <a:prstGeom prst="ellipse">
            <a:avLst/>
          </a:prstGeom>
          <a:solidFill>
            <a:srgbClr val="FF6A5A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20208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2834640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618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Production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51560" y="3429000"/>
            <a:ext cx="2907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2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2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Crore-rupee pro rigs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51560" y="4206240"/>
            <a:ext cx="2907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6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Rs 80–90k DSLR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51560" y="5029200"/>
            <a:ext cx="29077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DSLRs shot pro-grade video. Anyone could buy in.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9976" y="1417320"/>
            <a:ext cx="3456432" cy="457200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50992" y="1783080"/>
            <a:ext cx="914400" cy="914400"/>
          </a:xfrm>
          <a:prstGeom prst="ellipse">
            <a:avLst/>
          </a:prstGeom>
          <a:solidFill>
            <a:srgbClr val="382652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36" y="202082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62856" y="2834640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618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Editing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4654296" y="3429000"/>
            <a:ext cx="2907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2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2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20–25 lakh edit suites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654296" y="4206240"/>
            <a:ext cx="2907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6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 software (laptop)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654296" y="5029200"/>
            <a:ext cx="29077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Premiere Pro digitised editing onto your own machine — pirated, often free, in Pakistan.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982712" y="1417320"/>
            <a:ext cx="3456432" cy="457200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253728" y="1783080"/>
            <a:ext cx="914400" cy="914400"/>
          </a:xfrm>
          <a:prstGeom prst="ellipse">
            <a:avLst/>
          </a:prstGeom>
          <a:solidFill>
            <a:srgbClr val="FF6A5A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1472" y="2020824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165592" y="2834640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618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Distribution</a:t>
            </a:r>
            <a:endParaRPr lang="en-US" sz="2100" dirty="0"/>
          </a:p>
        </p:txBody>
      </p:sp>
      <p:sp>
        <p:nvSpPr>
          <p:cNvPr id="21" name="Text 16"/>
          <p:cNvSpPr/>
          <p:nvPr/>
        </p:nvSpPr>
        <p:spPr>
          <a:xfrm>
            <a:off x="8257032" y="3429000"/>
            <a:ext cx="2907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2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2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channels &amp; gatekeepers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8257032" y="4206240"/>
            <a:ext cx="2907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61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upload on YouTube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257032" y="5029200"/>
            <a:ext cx="29077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fee, no permission, no questions asked. The gate simply disappeared.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618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 the whole model flipped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77240" y="141732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2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22860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650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a finished idea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97280" y="3154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650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the money first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97280" y="40233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650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full thing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97280" y="4892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650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it, then exit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26183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WAY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22860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650" b="1" dirty="0">
                <a:solidFill>
                  <a:srgbClr val="F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half-baked idea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629400" y="3154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650" b="1" dirty="0">
                <a:solidFill>
                  <a:srgbClr val="F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cheaply, ship it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629400" y="40233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650" b="1" dirty="0">
                <a:solidFill>
                  <a:srgbClr val="F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feedback pick the winner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629400" y="4892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650" b="1" dirty="0">
                <a:solidFill>
                  <a:srgbClr val="F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down, then monetise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61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that built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7724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creator economy, as cited in the talk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382652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28600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6A5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$50B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1005840" y="34290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through YouTube alone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16552" y="201168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382652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16552" y="228600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5B54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$1.5T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4645152" y="34290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media industry today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55864" y="201168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382652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55864" y="228600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6A5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$3T</a:t>
            </a:r>
            <a:endParaRPr lang="en-US" sz="5800" dirty="0"/>
          </a:p>
        </p:txBody>
      </p:sp>
      <p:sp>
        <p:nvSpPr>
          <p:cNvPr id="12" name="Text 10"/>
          <p:cNvSpPr/>
          <p:nvPr/>
        </p:nvSpPr>
        <p:spPr>
          <a:xfrm>
            <a:off x="8284464" y="34290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by 2032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4617720"/>
            <a:ext cx="10652760" cy="1554480"/>
          </a:xfrm>
          <a:prstGeom prst="roundRect">
            <a:avLst>
              <a:gd name="adj" fmla="val 5882"/>
            </a:avLst>
          </a:prstGeom>
          <a:solidFill>
            <a:srgbClr val="FF6A5A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43000" y="461772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2618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 2005 a handful of players controlled film and music worldwide. Today the same industry is split across millions of independent creators.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1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108960"/>
            <a:ext cx="5669280" cy="5669280"/>
          </a:xfrm>
          <a:prstGeom prst="ellipse">
            <a:avLst/>
          </a:prstGeom>
          <a:solidFill>
            <a:srgbClr val="38265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FF6A5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3657600" y="2377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11880" y="2788920"/>
            <a:ext cx="7955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Now it's software's turn</a:t>
            </a:r>
            <a:endParaRPr lang="en-US" sz="3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618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old software model = the old media model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2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and shipping software was costly and complex — so it ran on the same gatekept playbook.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99032" y="2167128"/>
            <a:ext cx="768096" cy="768096"/>
          </a:xfrm>
          <a:prstGeom prst="ellipse">
            <a:avLst/>
          </a:prstGeom>
          <a:solidFill>
            <a:srgbClr val="FF6A5A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8737" y="2366833"/>
            <a:ext cx="368686" cy="368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6968" y="301752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2935224" y="18745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57016" y="2167128"/>
            <a:ext cx="768096" cy="768096"/>
          </a:xfrm>
          <a:prstGeom prst="ellipse">
            <a:avLst/>
          </a:prstGeom>
          <a:solidFill>
            <a:srgbClr val="382652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721" y="2366833"/>
            <a:ext cx="368686" cy="36868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044952" y="301752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from a VC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093208" y="18745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715000" y="2167128"/>
            <a:ext cx="768096" cy="768096"/>
          </a:xfrm>
          <a:prstGeom prst="ellipse">
            <a:avLst/>
          </a:prstGeom>
          <a:solidFill>
            <a:srgbClr val="FF6A5A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705" y="2366833"/>
            <a:ext cx="368686" cy="36868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02936" y="301752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CEO, CTO &amp; team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7251192" y="18745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872984" y="2167128"/>
            <a:ext cx="768096" cy="768096"/>
          </a:xfrm>
          <a:prstGeom prst="ellipse">
            <a:avLst/>
          </a:prstGeom>
          <a:solidFill>
            <a:srgbClr val="382652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2689" y="2366833"/>
            <a:ext cx="368686" cy="36868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60920" y="301752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full app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9409176" y="18745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0030968" y="2167128"/>
            <a:ext cx="768096" cy="768096"/>
          </a:xfrm>
          <a:prstGeom prst="ellipse">
            <a:avLst/>
          </a:prstGeom>
          <a:solidFill>
            <a:srgbClr val="FF6A5A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0673" y="2366833"/>
            <a:ext cx="368686" cy="36868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518904" y="301752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Launch, then exit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777240" y="4160520"/>
            <a:ext cx="10652760" cy="2011680"/>
          </a:xfrm>
          <a:prstGeom prst="roundRect">
            <a:avLst>
              <a:gd name="adj" fmla="val 4545"/>
            </a:avLst>
          </a:prstGeom>
          <a:solidFill>
            <a:srgbClr val="26183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25" name="Text 18"/>
          <p:cNvSpPr/>
          <p:nvPr/>
        </p:nvSpPr>
        <p:spPr>
          <a:xfrm>
            <a:off x="1097280" y="4389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Pakistan trap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1097280" y="4846320"/>
            <a:ext cx="100584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folks with an idea but no technical sense hired engineers they couldn't evaluate — so local apps were usually poor, unless deep-pocketed players (Rocket Internet, Alibaba) brought real infrastructure with them.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618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 collapses the cost — again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77240" y="1463040"/>
            <a:ext cx="51206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2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4617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650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prototype to show investors cost $25k+ in Pakistan, $200k–300k in the US — and a base app took 1–2 years.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309360" y="1463040"/>
            <a:ext cx="5120640" cy="2194560"/>
          </a:xfrm>
          <a:prstGeom prst="roundRect">
            <a:avLst>
              <a:gd name="adj" fmla="val 5000"/>
            </a:avLst>
          </a:prstGeom>
          <a:solidFill>
            <a:srgbClr val="26183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2940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29400" y="2103120"/>
            <a:ext cx="4617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650" dirty="0">
                <a:solidFill>
                  <a:srgbClr val="F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like Replit and Cursor build a working app in a single night, on a ~$20 account. Not polished — but real, and live.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3886200"/>
            <a:ext cx="10652760" cy="2286000"/>
          </a:xfrm>
          <a:prstGeom prst="roundRect">
            <a:avLst>
              <a:gd name="adj" fmla="val 4800"/>
            </a:avLst>
          </a:prstGeom>
          <a:solidFill>
            <a:srgbClr val="FF6A5A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43000" y="4526280"/>
            <a:ext cx="1005840" cy="1005840"/>
          </a:xfrm>
          <a:prstGeom prst="ellipse">
            <a:avLst/>
          </a:prstGeom>
          <a:solidFill>
            <a:srgbClr val="26183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4518" y="4787798"/>
            <a:ext cx="482803" cy="48280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14600" y="3886200"/>
            <a:ext cx="8595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2618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Idea → execution went from 1–2 years to one night. Testing it went from thousands of dollars to twenty.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618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Democratised code: "vibe coding"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77240" y="1417320"/>
            <a:ext cx="548640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1737360"/>
            <a:ext cx="868680" cy="868680"/>
          </a:xfrm>
          <a:prstGeom prst="ellipse">
            <a:avLst/>
          </a:prstGeom>
          <a:solidFill>
            <a:srgbClr val="FF6A5A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7417" y="196321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18745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18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Describe, don't build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51560" y="283464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 longer need to know how an app is engineered. You say what you want in plain language, then shape it through conversation — the way a camera became one record button.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92240" y="1417320"/>
            <a:ext cx="4937760" cy="4709160"/>
          </a:xfrm>
          <a:prstGeom prst="roundRect">
            <a:avLst>
              <a:gd name="adj" fmla="val 1942"/>
            </a:avLst>
          </a:prstGeom>
          <a:solidFill>
            <a:srgbClr val="26183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12280" y="17830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12280" y="2286000"/>
            <a:ext cx="4297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"My kid wants a fresh bedtime story every night — build me an app that writes a custom one each time."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6812280" y="457200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F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sentence is now enough to get a first version running. You refine the rest by talking to it.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618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shift: from skill set to outcome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77240" y="141732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2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USED TO WIN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22860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650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of the tool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97280" y="3154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650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"Look at my RED camera"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97280" y="40233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650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Output-focused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97280" y="4892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650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other experts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26183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WINS NOW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22860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650" b="1" dirty="0">
                <a:solidFill>
                  <a:srgbClr val="F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idea worth shipping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629400" y="3154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650" b="1" dirty="0">
                <a:solidFill>
                  <a:srgbClr val="F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"Look what this solves"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629400" y="40233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650" b="1" dirty="0">
                <a:solidFill>
                  <a:srgbClr val="F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Outcome-focused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629400" y="4892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650" b="1" dirty="0">
                <a:solidFill>
                  <a:srgbClr val="F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 consumer's problem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618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resistance is the tell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77240" y="146304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1783080"/>
            <a:ext cx="777240" cy="777240"/>
          </a:xfrm>
          <a:prstGeom prst="ellipse">
            <a:avLst/>
          </a:prstGeom>
          <a:solidFill>
            <a:srgbClr val="382652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3642" y="198516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178308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18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97280" y="269748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actors and directors dismissed early YouTubers as a passing fad — "just kids who'll disappear."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309360" y="146304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0" y="1783080"/>
            <a:ext cx="777240" cy="777240"/>
          </a:xfrm>
          <a:prstGeom prst="ellipse">
            <a:avLst/>
          </a:prstGeom>
          <a:solidFill>
            <a:srgbClr val="FF6A5A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5762" y="1985162"/>
            <a:ext cx="373075" cy="3730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43800" y="178308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18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Now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6629400" y="269748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dismiss vibe coding as garbage — insecure, unserious, "random people can't do this."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77240" y="3794760"/>
            <a:ext cx="10652760" cy="2377440"/>
          </a:xfrm>
          <a:prstGeom prst="roundRect">
            <a:avLst>
              <a:gd name="adj" fmla="val 3846"/>
            </a:avLst>
          </a:prstGeom>
          <a:solidFill>
            <a:srgbClr val="26183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1143000" y="3794760"/>
            <a:ext cx="9966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mainstream never died — films and news channels still exist. But a vast new industry grew up beside it, on new rules. Betting against the newcomers was the expensive mistake last time. It will be again.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618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Don't chase the get-rich-quick app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77240" y="1417320"/>
            <a:ext cx="10652760" cy="1371600"/>
          </a:xfrm>
          <a:prstGeom prst="roundRect">
            <a:avLst>
              <a:gd name="adj" fmla="val 6667"/>
            </a:avLst>
          </a:prstGeom>
          <a:solidFill>
            <a:srgbClr val="FF6A5A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143000" y="141732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618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early users who shot up fast mostly didn't survive. The ones who lasted built sustainable brands and communities.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8680" y="29718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72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names kept compounding on YouTube — MrBeast, PewDiePie, Ms Rachel, Blippi — by building an audience, not chasing a jackpot.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7240" y="3794760"/>
            <a:ext cx="254203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36776" y="4114800"/>
            <a:ext cx="822960" cy="822960"/>
          </a:xfrm>
          <a:prstGeom prst="ellipse">
            <a:avLst/>
          </a:prstGeom>
          <a:solidFill>
            <a:srgbClr val="FF6A5A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0746" y="4328770"/>
            <a:ext cx="395021" cy="3950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39593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26A8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5074920"/>
            <a:ext cx="22677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idea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3483864" y="3794760"/>
            <a:ext cx="254203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3400" y="4114800"/>
            <a:ext cx="822960" cy="822960"/>
          </a:xfrm>
          <a:prstGeom prst="ellipse">
            <a:avLst/>
          </a:prstGeom>
          <a:solidFill>
            <a:srgbClr val="382652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370" y="4328770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66744" y="39593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26A8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21024" y="5074920"/>
            <a:ext cx="22677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community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6190488" y="3794760"/>
            <a:ext cx="254203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50024" y="4114800"/>
            <a:ext cx="822960" cy="822960"/>
          </a:xfrm>
          <a:prstGeom prst="ellipse">
            <a:avLst/>
          </a:prstGeom>
          <a:solidFill>
            <a:srgbClr val="FF6A5A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994" y="4328770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73368" y="39593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26A8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327648" y="5074920"/>
            <a:ext cx="22677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500–800 early customers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8897112" y="3794760"/>
            <a:ext cx="254203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756648" y="4114800"/>
            <a:ext cx="822960" cy="822960"/>
          </a:xfrm>
          <a:prstGeom prst="ellipse">
            <a:avLst/>
          </a:prstGeom>
          <a:solidFill>
            <a:srgbClr val="382652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0618" y="4328770"/>
            <a:ext cx="395021" cy="39502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079992" y="39593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26A8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9034272" y="5074920"/>
            <a:ext cx="22677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 team — then money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61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029200" cy="5029200"/>
          </a:xfrm>
          <a:prstGeom prst="ellipse">
            <a:avLst/>
          </a:prstGeom>
          <a:solidFill>
            <a:srgbClr val="38265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7772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 don't need a million users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645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one app that solves a real problem for a particular community.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2468880"/>
            <a:ext cx="10652760" cy="2377440"/>
          </a:xfrm>
          <a:prstGeom prst="roundRect">
            <a:avLst>
              <a:gd name="adj" fmla="val 5385"/>
            </a:avLst>
          </a:prstGeom>
          <a:solidFill>
            <a:srgbClr val="382652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468880"/>
            <a:ext cx="10332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6A5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1,000</a:t>
            </a:r>
            <a:pPr algn="ctr" indent="0" marL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people  </a:t>
            </a:r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5B54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×</a:t>
            </a:r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6A5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$5</a:t>
            </a:r>
            <a:pPr algn="ctr" indent="0" marL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/ month  </a:t>
            </a:r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5B54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=</a:t>
            </a:r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5B54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$5,000</a:t>
            </a:r>
            <a:pPr algn="ctr" indent="0" marL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/ month, recurring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5074920"/>
            <a:ext cx="10652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F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recurring, and solving something specific beats a moonshot that never ships. The target is $5–500 per month, not $100 million.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618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to do this week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77240" y="137160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7280" y="1828800"/>
            <a:ext cx="868680" cy="868680"/>
          </a:xfrm>
          <a:prstGeom prst="ellipse">
            <a:avLst/>
          </a:prstGeom>
          <a:solidFill>
            <a:srgbClr val="FF6A5A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3137" y="205465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94560" y="16459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18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Find AI in your field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194560" y="21488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down the AI tools built for your industry and start using them to learn, grow, and move faster.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0" y="137160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720840" y="1828800"/>
            <a:ext cx="868680" cy="868680"/>
          </a:xfrm>
          <a:prstGeom prst="ellipse">
            <a:avLst/>
          </a:prstGeom>
          <a:solidFill>
            <a:srgbClr val="382652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697" y="2054657"/>
            <a:ext cx="416966" cy="41696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18120" y="16459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18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Audit your last 6 months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7818120" y="21488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tasks you did over and over. Repetition is the signal — that's what's worth automating.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777240" y="342900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097280" y="3886200"/>
            <a:ext cx="868680" cy="868680"/>
          </a:xfrm>
          <a:prstGeom prst="ellipse">
            <a:avLst/>
          </a:prstGeom>
          <a:solidFill>
            <a:srgbClr val="FF6A5A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137" y="4112057"/>
            <a:ext cx="416966" cy="41696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194560" y="37033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18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Build one small tool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2194560" y="42062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single repetitive job and build an app that does it for you, instead of doing it by hand.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6400800" y="342900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720840" y="3886200"/>
            <a:ext cx="868680" cy="868680"/>
          </a:xfrm>
          <a:prstGeom prst="ellipse">
            <a:avLst/>
          </a:prstGeom>
          <a:solidFill>
            <a:srgbClr val="382652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6697" y="4112057"/>
            <a:ext cx="416966" cy="41696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818120" y="37033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18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Try Replit (free or $20)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7818120" y="42062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a customer yet. Watch a YouTube intro, build one app, and ship it to a few friends.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777240" y="5486400"/>
            <a:ext cx="10652760" cy="685800"/>
          </a:xfrm>
          <a:prstGeom prst="roundRect">
            <a:avLst>
              <a:gd name="adj" fmla="val 13333"/>
            </a:avLst>
          </a:prstGeom>
          <a:solidFill>
            <a:srgbClr val="26183F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1097280" y="54864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own proof: a Replit build in one night automated client work that took 6–7 days each — down to 5 minutes. He hadn't coded in 10 years.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61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023360"/>
            <a:ext cx="4754880" cy="4754880"/>
          </a:xfrm>
          <a:prstGeom prst="ellipse">
            <a:avLst/>
          </a:prstGeom>
          <a:solidFill>
            <a:srgbClr val="38265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82296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wheel has already turned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FF6A5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783080"/>
            <a:ext cx="9144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only get easier. In media it went from hard in 2010 to 13-year-olds making great films today. You can't reverse that wheel.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502920" cy="502920"/>
          </a:xfrm>
          <a:prstGeom prst="ellipse">
            <a:avLst/>
          </a:prstGeom>
          <a:solidFill>
            <a:srgbClr val="FF6A5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3063240"/>
            <a:ext cx="9144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skills — but point your mind at ideas, problems, and outcomes, not at output for its own sake.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4389120"/>
            <a:ext cx="502920" cy="502920"/>
          </a:xfrm>
          <a:prstGeom prst="ellipse">
            <a:avLst/>
          </a:prstGeom>
          <a:solidFill>
            <a:srgbClr val="FF6A5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4343400"/>
            <a:ext cx="9144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technology is worthless if no one needs it. Solving a real problem cheaply, even for 500 people, is where the value is.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61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382652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5029200" cy="5029200"/>
          </a:xfrm>
          <a:prstGeom prst="ellipse">
            <a:avLst/>
          </a:prstGeom>
          <a:solidFill>
            <a:srgbClr val="382652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463040"/>
            <a:ext cx="1371600" cy="1371600"/>
          </a:xfrm>
          <a:prstGeom prst="ellipse">
            <a:avLst/>
          </a:prstGeom>
          <a:solidFill>
            <a:srgbClr val="FF6A5A"/>
          </a:solidFill>
          <a:ln/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1576" y="18196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Get off your high horse —</a:t>
            </a:r>
            <a:endParaRPr lang="en-US" sz="38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and start building.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5623560" y="4800600"/>
            <a:ext cx="914400" cy="0"/>
          </a:xfrm>
          <a:prstGeom prst="line">
            <a:avLst/>
          </a:prstGeom>
          <a:noFill/>
          <a:ln w="31750">
            <a:solidFill>
              <a:srgbClr val="FF6A5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2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a16z's "The YouTubeification of Software"  ·  based on a Dil Ki Baat talk on AI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YouTubeification of Software</dc:title>
  <dc:subject>PptxGenJS Presentation</dc:subject>
  <dc:creator>Generated from a Dil Ki Baat talk on AI</dc:creator>
  <cp:lastModifiedBy>Generated from a Dil Ki Baat talk on AI</cp:lastModifiedBy>
  <cp:revision>1</cp:revision>
  <dcterms:created xsi:type="dcterms:W3CDTF">2026-06-18T16:51:19Z</dcterms:created>
  <dcterms:modified xsi:type="dcterms:W3CDTF">2026-06-18T16:51:19Z</dcterms:modified>
</cp:coreProperties>
</file>